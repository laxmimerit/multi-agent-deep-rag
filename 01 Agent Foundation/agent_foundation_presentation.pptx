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1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587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00225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What is an AI Agent?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8289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From LLMs to Autonomous Agents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Multi-Agent Deep RAG Course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67EEA"/>
                </a:solidFill>
              </a:rPr>
              <a:t>LLM vs Agent: What's the Difference?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3291840"/>
          </a:xfrm>
          <a:prstGeom prst="rect">
            <a:avLst/>
          </a:prstGeom>
          <a:solidFill>
            <a:srgbClr val="FEF5E7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</a:rPr>
              <a:t>💬 Large Language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Nature: </a:t>
            </a:r>
            <a:r>
              <a:rPr lang="en-US" sz="1300" dirty="0">
                <a:solidFill>
                  <a:srgbClr val="2D3748"/>
                </a:solidFill>
              </a:rPr>
              <a:t>Passive responder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Capability: </a:t>
            </a:r>
            <a:r>
              <a:rPr lang="en-US" sz="1300" dirty="0">
                <a:solidFill>
                  <a:srgbClr val="2D3748"/>
                </a:solidFill>
              </a:rPr>
              <a:t>Text in → Text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Predicts next token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Single-turn response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No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Cannot take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6404"/>
                </a:solidFill>
              </a:rPr>
              <a:t>Example: Generates answer from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291840"/>
          </a:xfrm>
          <a:prstGeom prst="rect">
            <a:avLst/>
          </a:prstGeom>
          <a:solidFill>
            <a:srgbClr val="E8F4F8"/>
          </a:solidFill>
          <a:ln w="3810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7C93"/>
                </a:solidFill>
              </a:rPr>
              <a:t>🤖 AI Agent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Nature: </a:t>
            </a:r>
            <a:r>
              <a:rPr lang="en-US" sz="1300" dirty="0">
                <a:solidFill>
                  <a:srgbClr val="2D3748"/>
                </a:solidFill>
              </a:rPr>
              <a:t>Autonomous actor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</a:rPr>
              <a:t>Capability: </a:t>
            </a:r>
            <a:r>
              <a:rPr lang="en-US" sz="1300" dirty="0">
                <a:solidFill>
                  <a:srgbClr val="2D3748"/>
                </a:solidFill>
              </a:rPr>
              <a:t>Perceives + Acts + Reasons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Uses LLM as brain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Multi-turn iterative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Maintains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• Uses external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C5460"/>
                </a:solidFill>
              </a:rPr>
              <a:t>Example: Uses calculator tool for exact 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00302"/>
            <a:ext cx="841248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9174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Key Insight: Agent = LLM (brain) + Memory + Tools + Planning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67EEA"/>
                </a:solidFill>
              </a:rPr>
              <a:t>Core Components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667EEA"/>
                </a:solidFill>
              </a:rPr>
              <a:t>of an AI Agent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1325880"/>
            <a:ext cx="38633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568"/>
                </a:solidFill>
              </a:rPr>
              <a:t>"An agent is anything that can be viewed as perceiving its environment through sensors and acting upon that environment through actuators."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83032"/>
            <a:ext cx="2011680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65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14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EEA"/>
                </a:solidFill>
              </a:rPr>
              <a:t>Effector (Brain)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71752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Reasoning LLM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Decides actions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Processes observations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Plans next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483032"/>
            <a:ext cx="2011680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65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👁️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43200" y="3214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EEA"/>
                </a:solidFill>
              </a:rPr>
              <a:t>Sensors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3671752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Multimodal inputs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User queries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Tool outputs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Environmental 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83032"/>
            <a:ext cx="2011680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65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🛠️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937760" y="3214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EEA"/>
                </a:solidFill>
              </a:rPr>
              <a:t>Actuators (Tools)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671752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External APIs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Databases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Web search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Code execution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483032"/>
            <a:ext cx="2011680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665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🌍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132320" y="3214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EEA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3671752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Digital/physical world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User interactions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Data sources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4A5568"/>
                </a:solidFill>
              </a:rPr>
              <a:t>• Other agents</a:t>
            </a:r>
            <a:endParaRPr lang="en-US" sz="1100" dirty="0"/>
          </a:p>
        </p:txBody>
      </p:sp>
      <p:pic>
        <p:nvPicPr>
          <p:cNvPr id="1026" name="Picture 2" descr="Diagram of a diagram of a sensor actuators and environment  AI-generated content may be incorrect.">
            <a:extLst>
              <a:ext uri="{FF2B5EF4-FFF2-40B4-BE49-F238E27FC236}">
                <a16:creationId xmlns:a16="http://schemas.microsoft.com/office/drawing/2014/main" id="{02040F31-D526-357F-1557-7517B1BAC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20" y="262346"/>
            <a:ext cx="4011386" cy="203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67EEA"/>
                </a:solidFill>
              </a:rPr>
              <a:t>Four Types of AI Agents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30873"/>
            <a:ext cx="4023360" cy="1828800"/>
          </a:xfrm>
          <a:prstGeom prst="rect">
            <a:avLst/>
          </a:prstGeom>
          <a:solidFill>
            <a:srgbClr val="F7FAFC"/>
          </a:solidFill>
          <a:ln w="381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6803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7EEA"/>
                </a:solidFill>
              </a:rPr>
              <a:t>1️⃣ ReAct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8807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Pattern: </a:t>
            </a:r>
            <a:r>
              <a:rPr lang="en-US" sz="1200" dirty="0">
                <a:solidFill>
                  <a:srgbClr val="2D3748"/>
                </a:solidFill>
              </a:rPr>
              <a:t>Reason → Act → Observe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6239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Most common pattern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Alternates reasoning and acting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Simple and effective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9391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67EEA"/>
                </a:solidFill>
              </a:rPr>
              <a:t>Use Case: </a:t>
            </a:r>
            <a:r>
              <a:rPr lang="en-US" sz="1000" i="1" dirty="0">
                <a:solidFill>
                  <a:srgbClr val="667EEA"/>
                </a:solidFill>
              </a:rPr>
              <a:t>Q&amp;A, data retrieval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30873"/>
            <a:ext cx="4023360" cy="1828800"/>
          </a:xfrm>
          <a:prstGeom prst="rect">
            <a:avLst/>
          </a:prstGeom>
          <a:solidFill>
            <a:srgbClr val="F7FAFC"/>
          </a:solidFill>
          <a:ln w="38100">
            <a:solidFill>
              <a:srgbClr val="764B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6803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</a:rPr>
              <a:t>2️⃣ Plan-Execute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807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Pattern: </a:t>
            </a:r>
            <a:r>
              <a:rPr lang="en-US" sz="1200" dirty="0">
                <a:solidFill>
                  <a:srgbClr val="2D3748"/>
                </a:solidFill>
              </a:rPr>
              <a:t>Plan → Execute → Replan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6239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Creates complete plan upfront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Executes steps sequentially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Can revise based on outcomes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49391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64BA2"/>
                </a:solidFill>
              </a:rPr>
              <a:t>Use Case: </a:t>
            </a:r>
            <a:r>
              <a:rPr lang="en-US" sz="1000" i="1" dirty="0">
                <a:solidFill>
                  <a:srgbClr val="764BA2"/>
                </a:solidFill>
              </a:rPr>
              <a:t>Research, reports, workflows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25433"/>
            <a:ext cx="4023360" cy="1828800"/>
          </a:xfrm>
          <a:prstGeom prst="rect">
            <a:avLst/>
          </a:prstGeom>
          <a:solidFill>
            <a:srgbClr val="F7FAFC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259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</a:rPr>
              <a:t>3️⃣ Multi-Tool 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68263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Pattern: </a:t>
            </a:r>
            <a:r>
              <a:rPr lang="en-US" sz="1200" dirty="0">
                <a:solidFill>
                  <a:srgbClr val="2D3748"/>
                </a:solidFill>
              </a:rPr>
              <a:t>Tool Selection → Parallel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5695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Multiple specialized tools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Dynamic tool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Can use tools in parallel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8847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39C12"/>
                </a:solidFill>
              </a:rPr>
              <a:t>Use Case: </a:t>
            </a:r>
            <a:r>
              <a:rPr lang="en-US" sz="1000" i="1" dirty="0">
                <a:solidFill>
                  <a:srgbClr val="F39C12"/>
                </a:solidFill>
              </a:rPr>
              <a:t>Data analysis, automation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25433"/>
            <a:ext cx="4023360" cy="1828800"/>
          </a:xfrm>
          <a:prstGeom prst="rect">
            <a:avLst/>
          </a:prstGeom>
          <a:solidFill>
            <a:srgbClr val="F7FAFC"/>
          </a:solidFill>
          <a:ln w="381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6259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</a:rPr>
              <a:t>4️⃣ Self-Corrective 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68263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Pattern: </a:t>
            </a:r>
            <a:r>
              <a:rPr lang="en-US" sz="1200" dirty="0">
                <a:solidFill>
                  <a:srgbClr val="2D3748"/>
                </a:solidFill>
              </a:rPr>
              <a:t>Act → Validate → Correct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56953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Validates own outputs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Detects and fixes errors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• Iteratively improves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68847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796B"/>
                </a:solidFill>
              </a:rPr>
              <a:t>Use Case: </a:t>
            </a:r>
            <a:r>
              <a:rPr lang="en-US" sz="1000" i="1" dirty="0">
                <a:solidFill>
                  <a:srgbClr val="00796B"/>
                </a:solidFill>
              </a:rPr>
              <a:t>Code gen, SQL, critical tasks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67EEA"/>
                </a:solidFill>
              </a:rPr>
              <a:t>The Agent Loop (ReAct Pattern)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18096"/>
                </a:solidFill>
              </a:rPr>
              <a:t>Think → Tool → Think →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7315200" cy="54864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</a:rPr>
              <a:t>🤔 Think (Reasoning)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Agent analyzes query and decides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80160" y="2286000"/>
            <a:ext cx="7315200" cy="54864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3317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</a:rPr>
              <a:t>🛠️ Tool (Action)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786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Agent executes tool and gets observation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0160" y="3200400"/>
            <a:ext cx="7315200" cy="54864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2461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</a:rPr>
              <a:t>🔍 Think (Reflection)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4930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Agent reflects on observation and plans next step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280160" y="4114800"/>
            <a:ext cx="7315200" cy="54864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160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EEA"/>
                </a:solidFill>
              </a:rPr>
              <a:t>✅ Answer (Finish)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40740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Agent generates final 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45083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⚡ Iterative • Dynamic • Autonomous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411</Words>
  <Application>Microsoft Office PowerPoint</Application>
  <PresentationFormat>On-screen Show (16:9)</PresentationFormat>
  <Paragraphs>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Foundation - Multi-Agent Deep RAG Course</dc:title>
  <dc:subject>AI Agents Introduction</dc:subject>
  <dc:creator>KGP Talkie</dc:creator>
  <cp:lastModifiedBy>Laxmi Kant Tiwari</cp:lastModifiedBy>
  <cp:revision>3</cp:revision>
  <dcterms:created xsi:type="dcterms:W3CDTF">2025-12-03T13:08:34Z</dcterms:created>
  <dcterms:modified xsi:type="dcterms:W3CDTF">2025-12-04T06:28:57Z</dcterms:modified>
</cp:coreProperties>
</file>